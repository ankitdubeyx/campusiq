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841248"/>
            <a:ext cx="4114800" cy="320040"/>
          </a:xfrm>
          <a:prstGeom prst="roundRect">
            <a:avLst/>
          </a:prstGeom>
          <a:solidFill>
            <a:srgbClr val="132B4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ACADEMIC INTELLIGENCE &amp; TELEMETRY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CampusIQ</a:t>
            </a:r>
          </a:p>
          <a:p>
            <a:pPr>
              <a:spcBef>
                <a:spcPts val="600"/>
              </a:spcBef>
              <a:defRPr sz="2600" b="1">
                <a:solidFill>
                  <a:srgbClr val="B4CDFF"/>
                </a:solidFill>
              </a:defRPr>
            </a:pPr>
            <a:r>
              <a:t>Student Success &amp; Retention Intelligence System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Multi-Vector Telemetry • Explainable Risk Scoring • Automated Retention Interventions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97680"/>
            <a:ext cx="5486400" cy="1828800"/>
          </a:xfrm>
          <a:prstGeom prst="roundRect">
            <a:avLst/>
          </a:prstGeom>
          <a:solidFill>
            <a:srgbClr val="132B4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PROJECT PRESENTATION &amp; DEFENSE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BD5E1"/>
                </a:solidFill>
              </a:rPr>
              <a:t>Student Name: </a:t>
            </a:r>
            <a:r>
              <a:rPr b="1" sz="1500">
                <a:solidFill>
                  <a:srgbClr val="FFFFFF"/>
                </a:solidFill>
              </a:rPr>
              <a:t>Ankit Kumar Dubey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BD5E1"/>
                </a:solidFill>
              </a:rPr>
              <a:t>Registration Number: </a:t>
            </a:r>
            <a:r>
              <a:rPr b="1" sz="1500">
                <a:solidFill>
                  <a:srgbClr val="F59E0B"/>
                </a:solidFill>
              </a:rPr>
              <a:t>251302058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4297680"/>
            <a:ext cx="4937760" cy="1828800"/>
          </a:xfrm>
          <a:prstGeom prst="roundRect">
            <a:avLst/>
          </a:prstGeom>
          <a:solidFill>
            <a:srgbClr val="132B4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CORE ARCHITECTURE HIGHLIGHTS</a:t>
            </a:r>
          </a:p>
          <a:p>
            <a:pPr>
              <a:spcBef>
                <a:spcPts val="200"/>
              </a:spcBef>
            </a:pPr>
            <a:r>
              <a:rPr b="1" sz="1050">
                <a:solidFill>
                  <a:srgbClr val="FFFFFF"/>
                </a:solidFill>
              </a:rPr>
              <a:t>• 7-Vector Scoring: </a:t>
            </a:r>
            <a:r>
              <a:rPr sz="1050">
                <a:solidFill>
                  <a:srgbClr val="CBD5E1"/>
                </a:solidFill>
              </a:rPr>
              <a:t>Academic (30%), Placement (20%), Attendance (15%)...</a:t>
            </a:r>
          </a:p>
          <a:p>
            <a:pPr>
              <a:spcBef>
                <a:spcPts val="200"/>
              </a:spcBef>
            </a:pPr>
            <a:r>
              <a:rPr b="1" sz="1050">
                <a:solidFill>
                  <a:srgbClr val="FFFFFF"/>
                </a:solidFill>
              </a:rPr>
              <a:t>• RBAC Isolation: </a:t>
            </a:r>
            <a:r>
              <a:rPr sz="1050">
                <a:solidFill>
                  <a:srgbClr val="CBD5E1"/>
                </a:solidFill>
              </a:rPr>
              <a:t>Dean, HOD, Batch Head, Class Mentor, Student</a:t>
            </a:r>
          </a:p>
          <a:p>
            <a:pPr>
              <a:spcBef>
                <a:spcPts val="200"/>
              </a:spcBef>
            </a:pPr>
            <a:r>
              <a:rPr b="1" sz="1050">
                <a:solidFill>
                  <a:srgbClr val="FFFFFF"/>
                </a:solidFill>
              </a:rPr>
              <a:t>• Autonomous Action: </a:t>
            </a:r>
            <a:r>
              <a:rPr sz="1050">
                <a:solidFill>
                  <a:srgbClr val="CBD5E1"/>
                </a:solidFill>
              </a:rPr>
              <a:t>1-Click Statutory Remediation Notice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CHALLENGES IN STUDENT ATTRITION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C30"/>
                </a:solidFill>
              </a:defRPr>
            </a:pPr>
            <a:r>
              <a:t>The Higher Education Retention Dilemma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1. Lagging Failure Indicators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Conventional university ERPs only flag failing students post-semester after final grades are published. By then, dropout or academic debarment is already irreversible.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2. Isolated Institutional Data Silos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Classroom attendance logs, LMS engagement hours, coding platform stats, and faculty feedback remain isolated in departmental spreadsheets without unified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Administrative Action Bottleneck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Academic mentors lack standardized, automated tools to generate compliant warning notices, parent alerts, or personalized 14-day recovery roadmaps at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B41E1"/>
                </a:solidFill>
              </a:defRPr>
            </a:pPr>
            <a:r>
              <a:t>4. Student Morale &amp; Privacy Exposure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Generic ranking boards create unhealthy comparison rather than structured self-improvement. Students need air-gapped personal diagnostic telemetry without peer exposure.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OVERVIEW &amp;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C30"/>
                </a:solidFill>
              </a:defRPr>
            </a:pPr>
            <a:r>
              <a:t>CampusIQ: Proactive Retention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0B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THE PARADIGM SHIFT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</a:defRPr>
            </a:pPr>
            <a:r>
              <a:t>From Reactive Review to Proactive Early Warning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7171"/>
                </a:solidFill>
              </a:rPr>
              <a:t>• Old Way: Reactive Post-Mortem:
</a:t>
            </a:r>
            <a:r>
              <a:rPr sz="1000">
                <a:solidFill>
                  <a:srgbClr val="E2E8F0"/>
                </a:solidFill>
              </a:rPr>
              <a:t>Reviewing failures at semester end; students already failed or barred from exams.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563EB"/>
                </a:solidFill>
              </a:rPr>
              <a:t>• CampusIQ: Real-Time Telemetry:
</a:t>
            </a:r>
            <a:r>
              <a:rPr sz="1000">
                <a:solidFill>
                  <a:srgbClr val="E2E8F0"/>
                </a:solidFill>
              </a:rPr>
              <a:t>Continuous monitoring of attendance velocity, LMS activity, and weekly quiz dips.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87171"/>
                </a:solidFill>
              </a:rPr>
              <a:t>• Old Way: Manual Warnings:
</a:t>
            </a:r>
            <a:r>
              <a:rPr sz="1000">
                <a:solidFill>
                  <a:srgbClr val="E2E8F0"/>
                </a:solidFill>
              </a:rPr>
              <a:t>Mentors drafting ad-hoc emails or missing statutory debarment notice windows.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563EB"/>
                </a:solidFill>
              </a:rPr>
              <a:t>• CampusIQ: Automated 1-Click Notices:
</a:t>
            </a:r>
            <a:r>
              <a:rPr sz="1000">
                <a:solidFill>
                  <a:srgbClr val="E2E8F0"/>
                </a:solidFill>
              </a:rPr>
              <a:t>LLM-generated formal Section 75-B warning letters with prescribed recovery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1. 7-Vector Realtime Scoring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Mathematical synthesis of academic, placement, attendance, skills, LMS, activities, and faculty feedback into a single 0–100 Success Score.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0632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B41E1"/>
                </a:solidFill>
              </a:defRPr>
            </a:pPr>
            <a:r>
              <a:t>2. Strict Role-Based Governance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Cryptographically filtered views for Provosts, Department Heads, Batch Heads, Class Mentors, and Students with zero lateral data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663440"/>
            <a:ext cx="5212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3. Autonomous Academic Remediation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Instant generation of statutory attendance alerts (&lt;75% threshold), 14-day remedial sprints, and mentor advisory check-ins.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MATHEMATICAL RETENTION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C30"/>
                </a:solidFill>
              </a:defRPr>
            </a:pPr>
            <a:r>
              <a:t>The 7-Vector Student Success Score Formula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0698480" cy="6400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0B1C30"/>
                </a:solidFill>
              </a:rPr>
              <a:t>COMPOSITE SCORING FORMULA:   </a:t>
            </a:r>
            <a:r>
              <a:rPr b="1" sz="1150">
                <a:solidFill>
                  <a:srgbClr val="2563EB"/>
                </a:solidFill>
              </a:rPr>
              <a:t>Success Score = ∑ ( W_i × S_i )  =  30% Acad + 20% Place + 15% Attn + 15% Skills + 10% LMS + 5% Engage + 5% Feedback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6949440"/>
              </a:tblGrid>
              <a:tr h="5257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Telemetry Dimension</a:t>
                      </a:r>
                    </a:p>
                  </a:txBody>
                  <a:tcPr>
                    <a:solidFill>
                      <a:srgbClr val="0B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B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Inputs &amp; Evaluation Criteria</a:t>
                      </a:r>
                    </a:p>
                  </a:txBody>
                  <a:tcPr>
                    <a:solidFill>
                      <a:srgbClr val="0B1C3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1. Academic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Normalized CGPA (0–100 scale), Midsem &amp; Endsem marks, minus active backlog penalty.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2. Placement Readiness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Mock technical interview performance, quantitative aptitude score, coding challenge percentile.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3. Granular Attendance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Decomposed attendance across lectures, labs, and remedials. Alert triggered if Class Attendance &lt; 75%.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4. Technical Skills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Verified credentials (AWS, Coursera, NPTEL), LeetCode problems solved, GitHub portfolio.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5. LMS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Weekly hours logged on LMS, assignment submission timeliness, course lecture completion 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6. Campus Engagement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Hackathon participation and podium finishes, technical club involvement, peer activities.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7. Faculty &amp; Mentor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Standardized behavioral ratings, student discipline evaluations, and advisory audit notes.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PREDICTIVE TRIAGE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C30"/>
                </a:solidFill>
              </a:defRPr>
            </a:pPr>
            <a:r>
              <a:t>Automated Risk Matrix &amp; Early Warning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🔴 HIGH CRITICAL RISK</a:t>
            </a:r>
          </a:p>
          <a:p>
            <a:pPr>
              <a:spcBef>
                <a:spcPts val="400"/>
              </a:spcBef>
              <a:defRPr b="1" sz="1050"/>
            </a:pPr>
            <a:r>
              <a:t>Threshold Rules: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Success Score &lt; 50</a:t>
            </a:r>
            <a:br/>
            <a:r>
              <a:t>• OR Placement Score &lt; 40</a:t>
            </a:r>
            <a:br/>
            <a:br/>
            <a:r>
              <a:t>Action Protocol:</a:t>
            </a:r>
            <a:br/>
            <a:r>
              <a:t>Immediate formal Form-14 warning, parent notification, mandatory remedial clinic.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🟡 MODERATE MONITOR</a:t>
            </a:r>
          </a:p>
          <a:p>
            <a:pPr>
              <a:spcBef>
                <a:spcPts val="400"/>
              </a:spcBef>
              <a:defRPr b="1" sz="1050"/>
            </a:pPr>
            <a:r>
              <a:t>Threshold Rules: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Success Score &lt; 70</a:t>
            </a:r>
            <a:br/>
            <a:r>
              <a:t>• OR Placement Score &lt; 60</a:t>
            </a:r>
            <a:br/>
            <a:r>
              <a:t>• OR Class Attendance &lt; 75%</a:t>
            </a:r>
            <a:br/>
            <a:br/>
            <a:r>
              <a:t>Action Protocol:</a:t>
            </a:r>
            <a:br/>
            <a:r>
              <a:t>Bi-weekly mentor counseling, LMS engagement audit, peer study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🟢 LOW RISK / DEAN'S LIST</a:t>
            </a:r>
          </a:p>
          <a:p>
            <a:pPr>
              <a:spcBef>
                <a:spcPts val="400"/>
              </a:spcBef>
              <a:defRPr b="1" sz="1050"/>
            </a:pPr>
            <a:r>
              <a:t>Threshold Rules: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Success Score ≥ 70</a:t>
            </a:r>
            <a:br/>
            <a:r>
              <a:t>• AND Placement Score ≥ 60</a:t>
            </a:r>
            <a:br/>
            <a:r>
              <a:t>• AND Class Attendance ≥ 75%</a:t>
            </a:r>
            <a:br/>
            <a:br/>
            <a:r>
              <a:t>Action Protocol:</a:t>
            </a:r>
            <a:br/>
            <a:r>
              <a:t>Honors trajectory, elite hackathon sponsorships, corporate placement fast-track.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STATUTORY ATTENDANCE DEBARMENT ENFORCEMENT (&lt;75% THRESHOLD)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In higher education accreditation frameworks (AICTE/UGC), students possessing &lt; 75% classroom attendance are statutorily barred from semester examinations. CampusIQ implements an autonomous early-alert sentinel that flags students breaching the 75% run-rate weeks before the freeze date, triggering immediate remediation protocols.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ENTERPRISE DATA GOVERNANCE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C30"/>
                </a:solidFill>
              </a:defRPr>
            </a:pPr>
            <a:r>
              <a:t>Hierarchical Role-Based Access Control (RBAC)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0B1C30"/>
                </a:solidFill>
              </a:rPr>
              <a:t>Tier 01: Dean / Provost Office  </a:t>
            </a:r>
            <a:r>
              <a:rPr sz="950">
                <a:solidFill>
                  <a:srgbClr val="64748B"/>
                </a:solidFill>
              </a:rPr>
              <a:t>[/dashboard?role=dean]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All Academic Schools (Full 50-student cohort). Institutional 7-vector spider chart, accreditation targets, synthetic dataset ingestion, and global factory reset.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2563EB"/>
                </a:solidFill>
              </a:rPr>
              <a:t>Tier 02: Head of Department (HOD)  </a:t>
            </a:r>
            <a:r>
              <a:rPr sz="950">
                <a:solidFill>
                  <a:srgbClr val="64748B"/>
                </a:solidFill>
              </a:rPr>
              <a:t>[/dashboard?role=hod&amp;department=...]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Department Cohort (CSE, IT, ECE, DSAI). Subject score distributions (Midsem vs. Endsem), faculty mismatch audit, and credit clearance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4B41E1"/>
                </a:solidFill>
              </a:rPr>
              <a:t>Tier 03: Batch Head  </a:t>
            </a:r>
            <a:r>
              <a:rPr sz="950">
                <a:solidFill>
                  <a:srgbClr val="64748B"/>
                </a:solidFill>
              </a:rPr>
              <a:t>[/dashboard?role=batch_head&amp;batch=...]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Graduation Year Cohort (Batch 2021–2025). Longitudinal GPA trajectories, backlog clearing cadence, and corporate campus readiness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D97706"/>
                </a:solidFill>
              </a:rPr>
              <a:t>Tier 04: Class Mentor  </a:t>
            </a:r>
            <a:r>
              <a:rPr sz="950">
                <a:solidFill>
                  <a:srgbClr val="64748B"/>
                </a:solidFill>
              </a:rPr>
              <a:t>[/dashboard?role=mentor&amp;class=...]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Section Operational Scope (e.g., CSE-A). Granular roll-call reviews, parent notification alerts, and 1-click individual intervention triggers.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50">
                <a:solidFill>
                  <a:srgbClr val="059669"/>
                </a:solidFill>
              </a:rPr>
              <a:t>Tier 05: Student Personal Portal  </a:t>
            </a:r>
            <a:r>
              <a:rPr sz="950">
                <a:solidFill>
                  <a:srgbClr val="64748B"/>
                </a:solidFill>
              </a:rPr>
              <a:t>[/dashboard?role=student&amp;id=...]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Air-Gapped Single Record Isolation. Zero peer data exposure. Personal 7-vector competency radar, granular attendance breakdown bars, and interactive recovery roadmaps.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1-CLICK REMEDIATION BRIEF &amp; NOTICE DRAFTING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C30"/>
                </a:solidFill>
              </a:defRPr>
            </a:pPr>
            <a:r>
              <a:t>Autonomous Intervention Protocol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AUTONOMOUS ADMINISTRATIVE WORKFLOW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1. Real-Time Risk Trigger:
</a:t>
            </a:r>
            <a:r>
              <a:rPr sz="950">
                <a:solidFill>
                  <a:srgbClr val="0F172A"/>
                </a:solidFill>
              </a:rPr>
              <a:t>Faculty identifies High Risk student in Management Directory or Watchlist.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2. Dedicated API Invocation:
</a:t>
            </a:r>
            <a:r>
              <a:rPr sz="950">
                <a:solidFill>
                  <a:srgbClr val="0F172A"/>
                </a:solidFill>
              </a:rPr>
              <a:t>Calls GET /api/generate-intervention/:studentId dynamically.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3. Root-Cause Diagnostic Audit:
</a:t>
            </a:r>
            <a:r>
              <a:rPr sz="950">
                <a:solidFill>
                  <a:srgbClr val="0F172A"/>
                </a:solidFill>
              </a:rPr>
              <a:t>Analyzes attendance deficits (e.g. 58.4%), exam dips, and backlog count.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4. 3-Step Milestone Roadmap:
</a:t>
            </a:r>
            <a:r>
              <a:rPr sz="950">
                <a:solidFill>
                  <a:srgbClr val="0F172A"/>
                </a:solidFill>
              </a:rPr>
              <a:t>Issues Form-14 warning, prescribes 14-day remedial clinic, mandates mentor signoffs.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5. 1-Click Operational Dispatch:
</a:t>
            </a:r>
            <a:r>
              <a:rPr sz="950">
                <a:solidFill>
                  <a:srgbClr val="0F172A"/>
                </a:solidFill>
              </a:rPr>
              <a:t>One-click copy to clipboard with toast feedback + simulated email notice dispatch.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0B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LIVE SYSTEM GENERATED NOTICE DRAFT</a:t>
            </a:r>
          </a:p>
          <a:p>
            <a:pPr>
              <a:spcBef>
                <a:spcPts val="800"/>
              </a:spcBef>
              <a:defRPr sz="900">
                <a:solidFill>
                  <a:srgbClr val="E2E8F0"/>
                </a:solidFill>
                <a:latin typeface="Courier New"/>
              </a:defRPr>
            </a:pPr>
            <a:r>
              <a:t>NOTICE OF STATUTORY RETENTION WARNING</a:t>
            </a:r>
            <a:br/>
            <a:r>
              <a:t>Ref Code: SEC-75-B / RET-2025-9982</a:t>
            </a:r>
            <a:br/>
            <a:br/>
            <a:r>
              <a:t>Recipient: Student STU018 (Kavya Verma) — ECE-A</a:t>
            </a:r>
            <a:br/>
            <a:r>
              <a:t>Faculty Mentor: Dr. Assigned Mentor</a:t>
            </a:r>
            <a:br/>
            <a:br/>
            <a:r>
              <a:t>You have breached the mandatory 75% minimum semester attendance requirement with a current recorded rate of 57.4%. Furthermore, with active backlogs and a current CGPA of 7.33, your end-semester eligibility is at critical risk.</a:t>
            </a:r>
            <a:br/>
            <a:br/>
            <a:r>
              <a:t>PRESCRIBED REMEDIATION PROTOCOL:</a:t>
            </a:r>
            <a:br/>
            <a:r>
              <a:t>1. Formal Form-14 attendance notice dispatched to parent/guardian.</a:t>
            </a:r>
            <a:br/>
            <a:r>
              <a:t>2. Mandatory enrollment in 14-day Departmental Remedial Clinic.</a:t>
            </a:r>
            <a:br/>
            <a:r>
              <a:t>3. Bi-weekly milestone check-in with Dean's Retention Committee.</a:t>
            </a:r>
            <a:br/>
            <a:br/>
            <a:r>
              <a:t>Immediate compliance is ordered under Institutional Clause 4.2.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INTERACTIVE DATA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C30"/>
                </a:solidFill>
              </a:defRPr>
            </a:pPr>
            <a:r>
              <a:t>Visual Telemetry &amp; Explainable AI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t>7-Vector Competency Radar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Responsive heptagonal radar chart comparing cohort telemetry against accreditation standards. Mathematically calculated via trigonometric SVG coordinates.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B41E1"/>
                </a:solidFill>
              </a:defRPr>
            </a:pPr>
            <a:r>
              <a:t>Subject Progression Bars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Interactive comparative bar charts comparing Midsem, Endsem Projected, and Target Averages for core courses (DSA, DBMS, OS, Computer Networks).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DC2626"/>
                </a:solidFill>
              </a:defRPr>
            </a:pPr>
            <a:r>
              <a:t>Priority Watchlists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Real-time dual triage cards: Top 5 Star Performers (Dean's List honors) alongside Immediate Retention Triage (&lt;75% attendance priority debarment).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Explainable AI Detail Drawer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Transparent telemetry breakdown providing human-readable explanations of primary risk factors, strengths, and targeted remediation steps.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DESIGN &amp;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C30"/>
                </a:solidFill>
              </a:defRPr>
            </a:pPr>
            <a:r>
              <a:t>Technical Architecture &amp; Implementation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5669280"/>
              </a:tblGrid>
              <a:tr h="58521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 Layer</a:t>
                      </a:r>
                    </a:p>
                  </a:txBody>
                  <a:tcPr>
                    <a:solidFill>
                      <a:srgbClr val="0B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Technology / Framework</a:t>
                      </a:r>
                    </a:p>
                  </a:txBody>
                  <a:tcPr>
                    <a:solidFill>
                      <a:srgbClr val="0B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Role &amp; Functional Responsibility</a:t>
                      </a:r>
                    </a:p>
                  </a:txBody>
                  <a:tcPr>
                    <a:solidFill>
                      <a:srgbClr val="0B1C3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Backend REST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Node.js (v18+) &amp; Express.js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Handles RBAC routing, query-driven student filters, and API endpoints.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Frontend Interface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Vanilla JS, Tailwind CSS, Chart.js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Lightweight Single Page App (SPA) with zero heavy bundle overhead.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Analytics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scoring.js &amp; dataParser.js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Dynamic 7-vector weighting calculation and CSV/JSON normalization.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Data Storage Layer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In-Memory Cached JSON Database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50 student baseline records (students.json) with factory reset support.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663440"/>
            <a:ext cx="10698480" cy="1554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PRODUCTION READINESS &amp; CLOUD DEPLOYMENT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Zero Native Dependencies: Pure JavaScript stack ensures cross-platform compatibility across macOS, Linux, and Windows.</a:t>
            </a:r>
            <a:br/>
            <a:r>
              <a:t>• Serverless Ready: Configured with vercel.json routing for edge serverless deployments.</a:t>
            </a:r>
            <a:br/>
            <a:r>
              <a:t>• Dataset Ingestion: Instant CSV / JSON drag-and-drop file upload with schema validation and one-click factory reset.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VALUE DELIVERED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B1C30"/>
                </a:solidFill>
              </a:defRPr>
            </a:pPr>
            <a:r>
              <a:t>Project Outcomes, Impact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KEY PROJECT OUTCOMES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4–6 Weeks Early Intervention:
</a:t>
            </a:r>
            <a:r>
              <a:rPr sz="950">
                <a:solidFill>
                  <a:srgbClr val="0F172A"/>
                </a:solidFill>
              </a:rPr>
              <a:t>Identifies retention risks well before final semester exam debarment.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90% Reduction in Drafting Overhead:
</a:t>
            </a:r>
            <a:r>
              <a:rPr sz="950">
                <a:solidFill>
                  <a:srgbClr val="0F172A"/>
                </a:solidFill>
              </a:rPr>
              <a:t>Automates personalized Form-14 warning letters and remedial sprint plans.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100% Student Privacy Compliance:
</a:t>
            </a:r>
            <a:r>
              <a:rPr sz="950">
                <a:solidFill>
                  <a:srgbClr val="0F172A"/>
                </a:solidFill>
              </a:rPr>
              <a:t>Enforces air-gapped student view with zero lateral peer comparison leaks.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Institutional Accreditation Boost:
</a:t>
            </a:r>
            <a:r>
              <a:rPr sz="950">
                <a:solidFill>
                  <a:srgbClr val="0F172A"/>
                </a:solidFill>
              </a:rPr>
              <a:t>Provides quantifiable audit trails for AICTE/NAAC continuous quality mandates.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B41E1"/>
                </a:solidFill>
              </a:defRPr>
            </a:pPr>
            <a:r>
              <a:t>FUTURE ENHANCEMENTS &amp; ROADMAP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1. Live LMS LTI Integration:
</a:t>
            </a:r>
            <a:r>
              <a:rPr sz="950">
                <a:solidFill>
                  <a:srgbClr val="0F172A"/>
                </a:solidFill>
              </a:rPr>
              <a:t>Direct API hooks into Canvas, Blackboard, and Moodle for real-time quiz logs.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2. Automated Mobile Push Alerts:
</a:t>
            </a:r>
            <a:r>
              <a:rPr sz="950">
                <a:solidFill>
                  <a:srgbClr val="0F172A"/>
                </a:solidFill>
              </a:rPr>
              <a:t>SMS and WhatsApp automated notifications to parents for sudden attendance drops.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3. Predictive ML Forecasting:
</a:t>
            </a:r>
            <a:r>
              <a:rPr sz="950">
                <a:solidFill>
                  <a:srgbClr val="0F172A"/>
                </a:solidFill>
              </a:rPr>
              <a:t>Deep-learning credit completion forecasting using multi-semester historical transcripts.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B1C30"/>
                </a:solidFill>
              </a:rPr>
              <a:t>• 4. Placement Matching Engine:
</a:t>
            </a:r>
            <a:r>
              <a:rPr sz="950">
                <a:solidFill>
                  <a:srgbClr val="0F172A"/>
                </a:solidFill>
              </a:rPr>
              <a:t>AI-driven corporate job and internship matching based on student skill signatures.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B4CDFF"/>
                </a:solidFill>
              </a:defRPr>
            </a:pPr>
            <a:r>
              <a:t>CampusIQ: Transforming Student Retention Through Real-Time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2190" y="3474720"/>
            <a:ext cx="5486400" cy="2011680"/>
          </a:xfrm>
          <a:prstGeom prst="roundRect">
            <a:avLst/>
          </a:prstGeom>
          <a:solidFill>
            <a:srgbClr val="132B4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PROJECT PRESENTATION &amp; DEFENSE</a:t>
            </a:r>
          </a:p>
          <a:p>
            <a:pPr algn="ctr">
              <a:spcBef>
                <a:spcPts val="800"/>
              </a:spcBef>
            </a:pPr>
            <a:r>
              <a:rPr sz="1400">
                <a:solidFill>
                  <a:srgbClr val="CBD5E1"/>
                </a:solidFill>
              </a:rPr>
              <a:t>Candidate Name: </a:t>
            </a:r>
            <a:r>
              <a:rPr b="1" sz="1600">
                <a:solidFill>
                  <a:srgbClr val="FFFFFF"/>
                </a:solidFill>
              </a:rPr>
              <a:t>Ankit Kumar Dubey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CBD5E1"/>
                </a:solidFill>
              </a:rPr>
              <a:t>Registration Number: </a:t>
            </a:r>
            <a:r>
              <a:rPr b="1" sz="1600">
                <a:solidFill>
                  <a:srgbClr val="F59E0B"/>
                </a:solidFill>
              </a:rPr>
              <a:t>251302058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